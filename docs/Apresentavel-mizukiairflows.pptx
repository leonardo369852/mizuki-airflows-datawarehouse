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noite. Eu sou o Leonardo Alvarenga, de Ciência da Computação. Esse é o Mizuki Airflows: um data warehouse no Databricks que pega os dados abertos de voos da ANAC e entrega uma resposta em que dá para confiar.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(cartela — sem fala)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ANAC publica todos os voos regulares do país. Em doze meses, são mais de um milhão de registros. Só que o arquivo não está pronto para análise. A primeira linha não é o cabeçalho, é um aviso de atualização. O separador é ponto e vírgula. Campo vazio vem escrito como a palavra null. E nos cadastros de empresas estrangeiras os acentos chegam corrompidos. Se você abre isso direto num notebook, cada armadilha dessas vira um número errado, sem nenhum erro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foi construir um warehouse governado em cima desses dados, que responda perguntas em português e mostre o SQL usado. E a pergunta que guiou tudo tem duas partes: quão pontual é a aviação comercial brasileira, e se dá para confiar no número que sai dessa conta. A segunda parte é a que deu mais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(cartela — sem fala)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quatro fontes, todas do portal de dados abertos da ANAC. A principal é o VRA, Voo Regular Ativo: doze arquivos mensais, de agosto de 2025 a julho de 2026. Ele vira a tabela fato. As outras três são cadastros: aeródromos públicos, empresas nacionais e estrangeiras, que viram dimensões. No total, um milhão, catorze mil e setecentos voos, de 118 empresas, em 3.104 rotas.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arquitetura é medalhão, no Unity Catalog, com compute serverless. Primeiro passo: os CSVs vão para um volume e entram no Bronze exatamente como vieram. Tudo como texto, mais duas colunas: de qual arquivo veio e quando foi carregado.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Silver, os dados ganham tipo e documentação: toda coluna tem comentário. Um pipeline declarativo marca cada linha suspeita e separa: o que passa vai para airflow_auditado, o que falha vai para a quarentena, com o motivo escrito.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Gold é onde mora a regra de negócio. É um modelo estrela: uma fato com um registro por voo e seis dimensões. Ao lado, uma One Big Table, a obt_voos, para quem precisa de tudo numa tabela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no fim, o consumo: dois dashboards, um espaço do Genie para perguntas em português e um agente público que roda no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decisões sustentam a confiança no resultado. Primeira: a Silver é espelho do Bronze, com a mesma contagem de linhas. Nada some sem deixar rastro. Segunda: em vez de apagar linha ruim, eu separo. O pipeline mandou 820 mil linhas para a tabela auditada e 195 mil para a quarentena, cada uma com o motivo da exclusão. Terceira: a regra de negócio, atraso de até 15 minutos é pontual, só existe na Gold, e o denominador são os voos realizados. Se a regra mudar, muda num lugar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Sobre IA, quero ser transparente. A ferramenta foi o Genie, do próprio Databricks. Ele acelerou muito a análise: eu pergunto em português e ele escreve o SQL sobre a obt_voos. Mas ele erra. Quando um número parecia estranho, eu devolvia o erro ao próprio Genie, com o contexto, e ele refazia a consulta. E a palavra final nunca foi dele: a contagem do Bronze contra a Silver e os totais por empresa foram conferidos direto na tabela. No agente público, a regra é ainda mais rígida: o modelo só escreve SQL. Quem calcula é 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maior desafio não foi um erro. Foi um número que parecia certo. Quem procura LATAM no nome da empresa encontra a LATAM chilena: 14 mil voos. Plausível, ninguém desconfiaria. Só que no cadastro da ANAC a LATAM Brasil, maior empresa da base, se chama TAM Linhas Aéreas, e são 302 mil voos. Um erro de vinte vezes sem nenhuma mensagem de erro. A saída foi uma coluna de marca, mapeada pelo código ICAO, que agrupa as operadoras de cada grupo: LATAM, GOL e AZUL.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(cartela — sem fala)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resultado. Contando todos os voos realizados, a pontualidade é 79,9%. Mas 30.800 voos, três por cento do total, não têm horário previsto. Sem horário previsto não dá para medir atraso: nenhum deles conta como pontual, mas todos entram no denominador. Sobre os 954.760 realizados com horário previsto, a pontualidade é 82,5%. Nenhum dos dois está errado. São perguntas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resultado: a hora importa. O atraso médio de partida é mínimo de madrugada, 1,3 minuto às cinco da manhã, e vai crescendo ao longo do dia, passando de 12 minutos às dez da noite. O pico é à meia-noite: 26,4 minutos em média, que é o atraso acumulado do dia caindo no último voo. Quem pode escolher, deve voar cedo.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Terceiro resultado, e o que mais me surpreendeu. Comparei a mesma rota nos dois sentidos, para os destinos domésticos com mais de 800 voos em cada direção. Em 38 de 38, o voo que parte de Guarulhos ou Congonhas é menos pontual que o que chega lá. O caso mais extremo é Petrolina: 73,3% de pontualidade saindo de São Paulo, 91% no caminho de volta. O gargalo está na origem.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isso funciona de verdade. Esse é o Genie respondendo: como o atraso de partida evolui ao longo do dia. Ele escreve o SQL, mostra o código e devolve o gráfico com a fonte. O agente público faz o mesmo fora do Databricks: o Gemini escreve o SQL e o DuckDB executa no navegador, sobre arquivos Parquet exportados da Gold.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(cartela — sem fala)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os limites. Dois vêm da fonte: os 29.145 cancelamentos têm a mesma justificativa, N/A, então não dá para dizer por que um voo foi cancelado. E 10,5 por cento das partidas saem de aeródromos sem cadastro, que ficam fora do mapa. Dois são meus. O dashboard ANAC mostra 77,6 por cento porque divide por todos os voos, não pelos realizados. Essa correção ainda está pendente. E o notebook do Bronze diz que a carga é incremental, mas o código apaga e recarrega tudo. Funciona, mas não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próximos passos saem direto dessas limitações. Corrigir o denominador do dashboard ANAC. Trocar a recarga completa do Bronze por carga incremental. Ler cada cadastro com o encoding certo já no Bronze. E levar a coluna de marca da exportação para a dimensão de empresa na Gold.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Volto à pergunta do começo. Quão pontual é a aviação brasileira? 79,9 por cento sobre todos os voos realizados, 82,5 sobre os que têm horário previsto. Os dois estão certos, porque respondem perguntas diferentes. E dá para confiar no número? Dá, porque cada número tem origem rastreável, e o que ficou de fora está na quarentena, com o motivo escrito. É isso que este projeto entrega: dado público em que dá para confiar.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fechar, três coisas. Eu construí um warehouse em três camadas sobre um milhão de voos, que separa em vez de apagar. Descobri que o número depende da pergunta, e que sair de São Paulo é sempre pior. E aprendi que o erro mais caro é o número plausível: a IA acelera, mas a validação tem que ser minha.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Obrigado. Fico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Apêndice. A fato_voos tem grão de um voo, é particionada por data de partida prevista e usa surrogate key zero para registros sem correspondência na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Volumes por camada. O fato exportado para o agente público é um recorte agregado de 86.518 linhas, em 5 arquivos Parquet, somando 1,5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Prints do ambiente: o pipeline declarativo da Silver concluído, com 6 expectations na tabela auditada, e as 10 tabelas da Gold no catálogo.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motivo de exclusão é um CASE na view airflow_marcado. A primeira regra que falha define o motivo, e o auditado mais a quarentena somam cem por cento do Bronze.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333500"/>
            <a:ext cx="176022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 · DATABRICKS · DADOS ABERTOS ANAC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913434"/>
            <a:ext cx="17602201" cy="1409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68"/>
              </a:lnSpc>
              <a:buNone/>
            </a:pPr>
            <a:r>
              <a:rPr lang="en-US" sz="10800" b="1" spc="-216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Mizuki Airflows</a:t>
            </a:r>
            <a:endParaRPr lang="en-US" sz="10800" dirty="0"/>
          </a:p>
        </p:txBody>
      </p:sp>
      <p:sp>
        <p:nvSpPr>
          <p:cNvPr id="4" name="Text 2"/>
          <p:cNvSpPr/>
          <p:nvPr/>
        </p:nvSpPr>
        <p:spPr>
          <a:xfrm>
            <a:off x="1143000" y="3589735"/>
            <a:ext cx="17602201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data warehouse de voos comerciais brasileiros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6240529"/>
            <a:ext cx="16002001" cy="2998722"/>
          </a:xfrm>
          <a:prstGeom prst="roundRect">
            <a:avLst>
              <a:gd name="adj" fmla="val 7623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86884" y="6970613"/>
            <a:ext cx="209568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86884" y="7321848"/>
            <a:ext cx="2095682" cy="83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686884" y="8191666"/>
            <a:ext cx="2095682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bruto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125351" y="7730299"/>
            <a:ext cx="4845017" cy="19017"/>
          </a:xfrm>
          <a:prstGeom prst="rect">
            <a:avLst/>
          </a:prstGeom>
          <a:solidFill>
            <a:srgbClr val="536065"/>
          </a:solidFill>
          <a:ln/>
        </p:spPr>
      </p:sp>
      <p:sp>
        <p:nvSpPr>
          <p:cNvPr id="10" name="Shape 8"/>
          <p:cNvSpPr/>
          <p:nvPr/>
        </p:nvSpPr>
        <p:spPr>
          <a:xfrm>
            <a:off x="8837084" y="7663657"/>
            <a:ext cx="152301" cy="152301"/>
          </a:xfrm>
          <a:prstGeom prst="ellipse">
            <a:avLst/>
          </a:prstGeom>
          <a:solidFill>
            <a:srgbClr val="54CAC8"/>
          </a:solidFill>
          <a:ln/>
        </p:spPr>
      </p:sp>
      <p:sp>
        <p:nvSpPr>
          <p:cNvPr id="11" name="Text 9"/>
          <p:cNvSpPr/>
          <p:nvPr/>
        </p:nvSpPr>
        <p:spPr>
          <a:xfrm>
            <a:off x="9503668" y="6970613"/>
            <a:ext cx="21377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03668" y="7321848"/>
            <a:ext cx="2137701" cy="83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9503668" y="8191666"/>
            <a:ext cx="21377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estrela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980334" y="6479646"/>
            <a:ext cx="10583" cy="2520487"/>
          </a:xfrm>
          <a:prstGeom prst="rect">
            <a:avLst/>
          </a:prstGeom>
          <a:solidFill>
            <a:srgbClr val="536065"/>
          </a:solidFill>
          <a:ln/>
        </p:spPr>
      </p:sp>
      <p:sp>
        <p:nvSpPr>
          <p:cNvPr id="15" name="Text 13"/>
          <p:cNvSpPr/>
          <p:nvPr/>
        </p:nvSpPr>
        <p:spPr>
          <a:xfrm>
            <a:off x="12524218" y="6708180"/>
            <a:ext cx="44845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APRESENTADOR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524218" y="7040398"/>
            <a:ext cx="4484588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Leonardo Alvarenga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524218" y="7698549"/>
            <a:ext cx="44845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524218" y="8030766"/>
            <a:ext cx="4199205" cy="778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da Computação · Estácio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428750"/>
          </a:xfrm>
          <a:prstGeom prst="rect">
            <a:avLst/>
          </a:prstGeom>
          <a:solidFill>
            <a:srgbClr val="1415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58251"/>
            <a:ext cx="18288001" cy="1428750"/>
          </a:xfrm>
          <a:prstGeom prst="rect">
            <a:avLst/>
          </a:prstGeom>
          <a:solidFill>
            <a:srgbClr val="141516"/>
          </a:solidFill>
          <a:ln/>
        </p:spPr>
      </p:sp>
      <p:sp>
        <p:nvSpPr>
          <p:cNvPr id="4" name="Text 2"/>
          <p:cNvSpPr/>
          <p:nvPr/>
        </p:nvSpPr>
        <p:spPr>
          <a:xfrm>
            <a:off x="8219447" y="3707474"/>
            <a:ext cx="203401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870278" y="4280958"/>
            <a:ext cx="7202008" cy="160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00" b="1" spc="216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Embarque</a:t>
            </a:r>
            <a:endParaRPr lang="en-US" sz="10800" dirty="0"/>
          </a:p>
        </p:txBody>
      </p:sp>
      <p:sp>
        <p:nvSpPr>
          <p:cNvPr id="6" name="Text 4"/>
          <p:cNvSpPr/>
          <p:nvPr/>
        </p:nvSpPr>
        <p:spPr>
          <a:xfrm>
            <a:off x="5997443" y="6113860"/>
            <a:ext cx="6922426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voo começa com dado bruto.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4716126" cy="140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ANAC publica um milhão de voos em arquivos que enganam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117784"/>
            <a:ext cx="7867716" cy="1648685"/>
          </a:xfrm>
          <a:prstGeom prst="roundRect">
            <a:avLst>
              <a:gd name="adj" fmla="val 11555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4583" y="3471168"/>
            <a:ext cx="779300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Atualizado em: …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534583" y="4042668"/>
            <a:ext cx="779300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linha não é o cabeçalho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77284" y="3117784"/>
            <a:ext cx="7867716" cy="1648685"/>
          </a:xfrm>
          <a:prstGeom prst="roundRect">
            <a:avLst>
              <a:gd name="adj" fmla="val 11555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68867" y="3471168"/>
            <a:ext cx="779300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668867" y="4042668"/>
            <a:ext cx="779300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Separador é ponto e vírgula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5033037"/>
            <a:ext cx="7867716" cy="1648685"/>
          </a:xfrm>
          <a:prstGeom prst="roundRect">
            <a:avLst>
              <a:gd name="adj" fmla="val 11555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4583" y="5386421"/>
            <a:ext cx="779300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"null"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534583" y="5957921"/>
            <a:ext cx="779300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Vazio escrito como texto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277284" y="5033037"/>
            <a:ext cx="7867716" cy="1648685"/>
          </a:xfrm>
          <a:prstGeom prst="roundRect">
            <a:avLst>
              <a:gd name="adj" fmla="val 11555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68867" y="5386421"/>
            <a:ext cx="779300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6D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IBÃRIA · AVIACIÃN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668867" y="5957921"/>
            <a:ext cx="7793004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Acentos corrompidos nas estrangeiras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43000" y="9592800"/>
            <a:ext cx="151851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EMBARQUE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833784" y="9592800"/>
            <a:ext cx="38741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407834"/>
            <a:ext cx="1760220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NORTEADORA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4171818"/>
            <a:ext cx="15697201" cy="2013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7200" b="1" spc="-144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Quão pontual é a aviação brasileira, e </a:t>
            </a:r>
            <a:pPr algn="l" indent="0" marL="0">
              <a:lnSpc>
                <a:spcPct val="94255"/>
              </a:lnSpc>
              <a:buNone/>
            </a:pPr>
            <a:r>
              <a:rPr lang="en-US" sz="7200" b="1" spc="-144" kern="0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para confiar no número?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6604000"/>
            <a:ext cx="1760220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de 2025 a julho de 2026 · voos regulares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43000" y="9592800"/>
            <a:ext cx="151851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EMBARQUE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831304" y="9592800"/>
            <a:ext cx="38989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428750"/>
          </a:xfrm>
          <a:prstGeom prst="rect">
            <a:avLst/>
          </a:prstGeom>
          <a:solidFill>
            <a:srgbClr val="1415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58251"/>
            <a:ext cx="18288001" cy="1428750"/>
          </a:xfrm>
          <a:prstGeom prst="rect">
            <a:avLst/>
          </a:prstGeom>
          <a:solidFill>
            <a:srgbClr val="141516"/>
          </a:solidFill>
          <a:ln/>
        </p:spPr>
      </p:sp>
      <p:sp>
        <p:nvSpPr>
          <p:cNvPr id="4" name="Text 2"/>
          <p:cNvSpPr/>
          <p:nvPr/>
        </p:nvSpPr>
        <p:spPr>
          <a:xfrm>
            <a:off x="8219447" y="3707474"/>
            <a:ext cx="203401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529461" y="4280958"/>
            <a:ext cx="7951986" cy="160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00" b="1" spc="216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Decolagem</a:t>
            </a:r>
            <a:endParaRPr lang="en-US" sz="10800" dirty="0"/>
          </a:p>
        </p:txBody>
      </p:sp>
      <p:sp>
        <p:nvSpPr>
          <p:cNvPr id="6" name="Text 4"/>
          <p:cNvSpPr/>
          <p:nvPr/>
        </p:nvSpPr>
        <p:spPr>
          <a:xfrm>
            <a:off x="5533595" y="6113860"/>
            <a:ext cx="7942891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camadas entre o CSV e a resposta.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5716251" cy="720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fontes oficiais somam</a:t>
            </a:r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1.014.705</a:t>
            </a:r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2358926"/>
            <a:ext cx="16002001" cy="4067638"/>
          </a:xfrm>
          <a:prstGeom prst="roundRect">
            <a:avLst>
              <a:gd name="adj" fmla="val 4683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583" y="2369509"/>
            <a:ext cx="15980834" cy="704784"/>
          </a:xfrm>
          <a:prstGeom prst="rect">
            <a:avLst/>
          </a:prstGeom>
          <a:solidFill>
            <a:srgbClr val="2C3335"/>
          </a:solidFill>
          <a:ln/>
        </p:spPr>
      </p:sp>
      <p:sp>
        <p:nvSpPr>
          <p:cNvPr id="5" name="Shape 3"/>
          <p:cNvSpPr/>
          <p:nvPr/>
        </p:nvSpPr>
        <p:spPr>
          <a:xfrm>
            <a:off x="1153583" y="3063710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6" name="Text 4"/>
          <p:cNvSpPr/>
          <p:nvPr/>
        </p:nvSpPr>
        <p:spPr>
          <a:xfrm>
            <a:off x="1534583" y="2579026"/>
            <a:ext cx="961601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76417" y="2579026"/>
            <a:ext cx="44005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276917" y="2579026"/>
            <a:ext cx="27241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53583" y="3901778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10" name="Text 8"/>
          <p:cNvSpPr/>
          <p:nvPr/>
        </p:nvSpPr>
        <p:spPr>
          <a:xfrm>
            <a:off x="1534583" y="3302827"/>
            <a:ext cx="9616017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 · Voo Regular Ativo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76417" y="3302827"/>
            <a:ext cx="440055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CSVs mensais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276917" y="3302827"/>
            <a:ext cx="272415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53583" y="4739845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14" name="Text 12"/>
          <p:cNvSpPr/>
          <p:nvPr/>
        </p:nvSpPr>
        <p:spPr>
          <a:xfrm>
            <a:off x="1534583" y="4140895"/>
            <a:ext cx="9616017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Aeródromos Públicos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276417" y="4140895"/>
            <a:ext cx="440055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276917" y="4140895"/>
            <a:ext cx="272415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153583" y="5577913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18" name="Text 16"/>
          <p:cNvSpPr/>
          <p:nvPr/>
        </p:nvSpPr>
        <p:spPr>
          <a:xfrm>
            <a:off x="1534583" y="4978962"/>
            <a:ext cx="9616017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Aéreas Nacionais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276417" y="4978962"/>
            <a:ext cx="440055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276917" y="4978962"/>
            <a:ext cx="272415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534583" y="5817030"/>
            <a:ext cx="9616017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Aéreas Estrangeiras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276417" y="5817030"/>
            <a:ext cx="440055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276917" y="5817030"/>
            <a:ext cx="2724150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dimensão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6959865"/>
            <a:ext cx="74427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1944357" y="7086865"/>
            <a:ext cx="13588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3865397" y="6959865"/>
            <a:ext cx="77536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374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4697843" y="7086865"/>
            <a:ext cx="102125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origens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328668" y="6959865"/>
            <a:ext cx="112477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3.104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7510529" y="7086865"/>
            <a:ext cx="71120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8831296" y="6959865"/>
            <a:ext cx="140973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29.145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10246156" y="7086865"/>
            <a:ext cx="1593453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cancelados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143000" y="9592800"/>
            <a:ext cx="170314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DECOLAGEM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824689" y="9592800"/>
            <a:ext cx="39651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4716126" cy="140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camada do warehouse tem uma única responsabilidade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346318"/>
            <a:ext cx="2743399" cy="2498163"/>
          </a:xfrm>
          <a:prstGeom prst="roundRect">
            <a:avLst>
              <a:gd name="adj" fmla="val 76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0151" y="3661668"/>
            <a:ext cx="24080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20151" y="4089136"/>
            <a:ext cx="2408006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fontes em CSV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038699" y="4585891"/>
            <a:ext cx="266568" cy="19017"/>
          </a:xfrm>
          <a:prstGeom prst="rect">
            <a:avLst/>
          </a:prstGeom>
          <a:solidFill>
            <a:srgbClr val="84949A"/>
          </a:solidFill>
          <a:ln/>
        </p:spPr>
      </p:sp>
      <p:sp>
        <p:nvSpPr>
          <p:cNvPr id="7" name="Shape 5"/>
          <p:cNvSpPr/>
          <p:nvPr/>
        </p:nvSpPr>
        <p:spPr>
          <a:xfrm>
            <a:off x="4457568" y="3346318"/>
            <a:ext cx="2743564" cy="2498163"/>
          </a:xfrm>
          <a:prstGeom prst="roundRect">
            <a:avLst>
              <a:gd name="adj" fmla="val 7626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4719" y="3661668"/>
            <a:ext cx="24081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6D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34719" y="4089136"/>
            <a:ext cx="2265462" cy="147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como texto, com arquivo e hora da carga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353433" y="4585891"/>
            <a:ext cx="266568" cy="19017"/>
          </a:xfrm>
          <a:prstGeom prst="rect">
            <a:avLst/>
          </a:prstGeom>
          <a:solidFill>
            <a:srgbClr val="84949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72301" y="3346318"/>
            <a:ext cx="2743399" cy="2498163"/>
          </a:xfrm>
          <a:prstGeom prst="roundRect">
            <a:avLst>
              <a:gd name="adj" fmla="val 7626"/>
            </a:avLst>
          </a:prstGeom>
          <a:solidFill>
            <a:srgbClr val="313A3C">
              <a:alpha val="20000"/>
            </a:srgbClr>
          </a:solidFill>
          <a:ln w="10583">
            <a:solidFill>
              <a:srgbClr val="414B4E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9452" y="3661668"/>
            <a:ext cx="24080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9452" y="4089136"/>
            <a:ext cx="2265296" cy="147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Tipada e documentada; quarentena com motivo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668000" y="4585891"/>
            <a:ext cx="266568" cy="19017"/>
          </a:xfrm>
          <a:prstGeom prst="rect">
            <a:avLst/>
          </a:prstGeom>
          <a:solidFill>
            <a:srgbClr val="84949A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86869" y="3346318"/>
            <a:ext cx="2743564" cy="2498163"/>
          </a:xfrm>
          <a:prstGeom prst="roundRect">
            <a:avLst>
              <a:gd name="adj" fmla="val 7626"/>
            </a:avLst>
          </a:prstGeom>
          <a:solidFill>
            <a:srgbClr val="313A3C">
              <a:alpha val="20000"/>
            </a:srgbClr>
          </a:solidFill>
          <a:ln w="10583">
            <a:solidFill>
              <a:srgbClr val="414B4E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64020" y="3661668"/>
            <a:ext cx="24081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364020" y="4089136"/>
            <a:ext cx="2265462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estrela e OBT; regra dos 15 min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982734" y="4585891"/>
            <a:ext cx="266568" cy="19017"/>
          </a:xfrm>
          <a:prstGeom prst="rect">
            <a:avLst/>
          </a:prstGeom>
          <a:solidFill>
            <a:srgbClr val="84949A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401602" y="3346318"/>
            <a:ext cx="2743399" cy="2498163"/>
          </a:xfrm>
          <a:prstGeom prst="roundRect">
            <a:avLst>
              <a:gd name="adj" fmla="val 7626"/>
            </a:avLst>
          </a:prstGeom>
          <a:solidFill>
            <a:srgbClr val="313A3C">
              <a:alpha val="20000"/>
            </a:srgbClr>
          </a:solidFill>
          <a:ln w="10583">
            <a:solidFill>
              <a:srgbClr val="414B4E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78753" y="3661668"/>
            <a:ext cx="24080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78753" y="4089136"/>
            <a:ext cx="2265296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dashboards, Genie e agente público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43000" y="6682549"/>
            <a:ext cx="1760220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49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catálogo mizukiairflows · Unity Catalog · Serverless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" y="9592800"/>
            <a:ext cx="170314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DECOLAGEM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836761" y="9592800"/>
            <a:ext cx="38444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4716126" cy="140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camada do warehouse tem uma única responsabilidade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346318"/>
            <a:ext cx="2743399" cy="2498163"/>
          </a:xfrm>
          <a:prstGeom prst="roundRect">
            <a:avLst>
              <a:gd name="adj" fmla="val 76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0151" y="3661668"/>
            <a:ext cx="24080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20151" y="4089136"/>
            <a:ext cx="2408006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fontes em CSV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038699" y="4585891"/>
            <a:ext cx="266568" cy="19017"/>
          </a:xfrm>
          <a:prstGeom prst="rect">
            <a:avLst/>
          </a:prstGeom>
          <a:solidFill>
            <a:srgbClr val="84949A"/>
          </a:solidFill>
          <a:ln/>
        </p:spPr>
      </p:sp>
      <p:sp>
        <p:nvSpPr>
          <p:cNvPr id="7" name="Shape 5"/>
          <p:cNvSpPr/>
          <p:nvPr/>
        </p:nvSpPr>
        <p:spPr>
          <a:xfrm>
            <a:off x="4457568" y="3346318"/>
            <a:ext cx="2743564" cy="2498163"/>
          </a:xfrm>
          <a:prstGeom prst="roundRect">
            <a:avLst>
              <a:gd name="adj" fmla="val 76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4719" y="3661668"/>
            <a:ext cx="24081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34719" y="4089136"/>
            <a:ext cx="2265462" cy="147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como texto, com arquivo e hora da carga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353433" y="4585891"/>
            <a:ext cx="266568" cy="19017"/>
          </a:xfrm>
          <a:prstGeom prst="rect">
            <a:avLst/>
          </a:prstGeom>
          <a:solidFill>
            <a:srgbClr val="84949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301" y="3346318"/>
            <a:ext cx="2743399" cy="2498163"/>
          </a:xfrm>
          <a:prstGeom prst="roundRect">
            <a:avLst>
              <a:gd name="adj" fmla="val 7626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9452" y="3661668"/>
            <a:ext cx="24080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6D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9452" y="4089136"/>
            <a:ext cx="2265296" cy="147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Tipada e documentada; quarentena com motivo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668000" y="4585891"/>
            <a:ext cx="266568" cy="19017"/>
          </a:xfrm>
          <a:prstGeom prst="rect">
            <a:avLst/>
          </a:prstGeom>
          <a:solidFill>
            <a:srgbClr val="84949A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086869" y="3346318"/>
            <a:ext cx="2743564" cy="2498163"/>
          </a:xfrm>
          <a:prstGeom prst="roundRect">
            <a:avLst>
              <a:gd name="adj" fmla="val 7626"/>
            </a:avLst>
          </a:prstGeom>
          <a:solidFill>
            <a:srgbClr val="313A3C">
              <a:alpha val="20000"/>
            </a:srgbClr>
          </a:solidFill>
          <a:ln w="10583">
            <a:solidFill>
              <a:srgbClr val="414B4E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64020" y="3661668"/>
            <a:ext cx="24081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364020" y="4089136"/>
            <a:ext cx="2265462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estrela e OBT; regra dos 15 min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982734" y="4585891"/>
            <a:ext cx="266568" cy="19017"/>
          </a:xfrm>
          <a:prstGeom prst="rect">
            <a:avLst/>
          </a:prstGeom>
          <a:solidFill>
            <a:srgbClr val="84949A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401602" y="3346318"/>
            <a:ext cx="2743399" cy="2498163"/>
          </a:xfrm>
          <a:prstGeom prst="roundRect">
            <a:avLst>
              <a:gd name="adj" fmla="val 7626"/>
            </a:avLst>
          </a:prstGeom>
          <a:solidFill>
            <a:srgbClr val="313A3C">
              <a:alpha val="20000"/>
            </a:srgbClr>
          </a:solidFill>
          <a:ln w="10583">
            <a:solidFill>
              <a:srgbClr val="414B4E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78753" y="3661668"/>
            <a:ext cx="24080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78753" y="4089136"/>
            <a:ext cx="2265296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dashboards, Genie e agente público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43000" y="6682549"/>
            <a:ext cx="1760220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49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catálogo mizukiairflows · Unity Catalog · Serverless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" y="9592800"/>
            <a:ext cx="170314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DECOLAGEM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836761" y="9592800"/>
            <a:ext cx="38444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4716126" cy="140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camada do warehouse tem uma única responsabilidade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346318"/>
            <a:ext cx="2743399" cy="2498163"/>
          </a:xfrm>
          <a:prstGeom prst="roundRect">
            <a:avLst>
              <a:gd name="adj" fmla="val 76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0151" y="3661668"/>
            <a:ext cx="24080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20151" y="4089136"/>
            <a:ext cx="2408006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fontes em CSV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038699" y="4585891"/>
            <a:ext cx="266568" cy="19017"/>
          </a:xfrm>
          <a:prstGeom prst="rect">
            <a:avLst/>
          </a:prstGeom>
          <a:solidFill>
            <a:srgbClr val="84949A"/>
          </a:solidFill>
          <a:ln/>
        </p:spPr>
      </p:sp>
      <p:sp>
        <p:nvSpPr>
          <p:cNvPr id="7" name="Shape 5"/>
          <p:cNvSpPr/>
          <p:nvPr/>
        </p:nvSpPr>
        <p:spPr>
          <a:xfrm>
            <a:off x="4457568" y="3346318"/>
            <a:ext cx="2743564" cy="2498163"/>
          </a:xfrm>
          <a:prstGeom prst="roundRect">
            <a:avLst>
              <a:gd name="adj" fmla="val 76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4719" y="3661668"/>
            <a:ext cx="24081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34719" y="4089136"/>
            <a:ext cx="2265462" cy="147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como texto, com arquivo e hora da carga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353433" y="4585891"/>
            <a:ext cx="266568" cy="19017"/>
          </a:xfrm>
          <a:prstGeom prst="rect">
            <a:avLst/>
          </a:prstGeom>
          <a:solidFill>
            <a:srgbClr val="84949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301" y="3346318"/>
            <a:ext cx="2743399" cy="2498163"/>
          </a:xfrm>
          <a:prstGeom prst="roundRect">
            <a:avLst>
              <a:gd name="adj" fmla="val 76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9452" y="3661668"/>
            <a:ext cx="24080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9452" y="4089136"/>
            <a:ext cx="2265296" cy="147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Tipada e documentada; quarentena com motivo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668000" y="4585891"/>
            <a:ext cx="266568" cy="19017"/>
          </a:xfrm>
          <a:prstGeom prst="rect">
            <a:avLst/>
          </a:prstGeom>
          <a:solidFill>
            <a:srgbClr val="84949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6869" y="3346318"/>
            <a:ext cx="2743564" cy="2498163"/>
          </a:xfrm>
          <a:prstGeom prst="roundRect">
            <a:avLst>
              <a:gd name="adj" fmla="val 7626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64020" y="3661668"/>
            <a:ext cx="24081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6D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364020" y="4089136"/>
            <a:ext cx="2265462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estrela e OBT; regra dos 15 min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982734" y="4585891"/>
            <a:ext cx="266568" cy="19017"/>
          </a:xfrm>
          <a:prstGeom prst="rect">
            <a:avLst/>
          </a:prstGeom>
          <a:solidFill>
            <a:srgbClr val="84949A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401602" y="3346318"/>
            <a:ext cx="2743399" cy="2498163"/>
          </a:xfrm>
          <a:prstGeom prst="roundRect">
            <a:avLst>
              <a:gd name="adj" fmla="val 7626"/>
            </a:avLst>
          </a:prstGeom>
          <a:solidFill>
            <a:srgbClr val="313A3C">
              <a:alpha val="20000"/>
            </a:srgbClr>
          </a:solidFill>
          <a:ln w="10583">
            <a:solidFill>
              <a:srgbClr val="414B4E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78753" y="3661668"/>
            <a:ext cx="24080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78753" y="4089136"/>
            <a:ext cx="2265296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dashboards, Genie e agente público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43000" y="6682549"/>
            <a:ext cx="1760220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49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catálogo mizukiairflows · Unity Catalog · Serverless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" y="9592800"/>
            <a:ext cx="170314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DECOLAGEM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836761" y="9592800"/>
            <a:ext cx="38444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4716126" cy="140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camada do warehouse tem uma única responsabilidade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346318"/>
            <a:ext cx="2743399" cy="2498163"/>
          </a:xfrm>
          <a:prstGeom prst="roundRect">
            <a:avLst>
              <a:gd name="adj" fmla="val 76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0151" y="3661668"/>
            <a:ext cx="24080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20151" y="4089136"/>
            <a:ext cx="2408006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fontes em CSV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038699" y="4585891"/>
            <a:ext cx="266568" cy="19017"/>
          </a:xfrm>
          <a:prstGeom prst="rect">
            <a:avLst/>
          </a:prstGeom>
          <a:solidFill>
            <a:srgbClr val="84949A"/>
          </a:solidFill>
          <a:ln/>
        </p:spPr>
      </p:sp>
      <p:sp>
        <p:nvSpPr>
          <p:cNvPr id="7" name="Shape 5"/>
          <p:cNvSpPr/>
          <p:nvPr/>
        </p:nvSpPr>
        <p:spPr>
          <a:xfrm>
            <a:off x="4457568" y="3346318"/>
            <a:ext cx="2743564" cy="2498163"/>
          </a:xfrm>
          <a:prstGeom prst="roundRect">
            <a:avLst>
              <a:gd name="adj" fmla="val 76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4719" y="3661668"/>
            <a:ext cx="24081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34719" y="4089136"/>
            <a:ext cx="2265462" cy="147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como texto, com arquivo e hora da carga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353433" y="4585891"/>
            <a:ext cx="266568" cy="19017"/>
          </a:xfrm>
          <a:prstGeom prst="rect">
            <a:avLst/>
          </a:prstGeom>
          <a:solidFill>
            <a:srgbClr val="84949A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301" y="3346318"/>
            <a:ext cx="2743399" cy="2498163"/>
          </a:xfrm>
          <a:prstGeom prst="roundRect">
            <a:avLst>
              <a:gd name="adj" fmla="val 76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9452" y="3661668"/>
            <a:ext cx="24080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9452" y="4089136"/>
            <a:ext cx="2265296" cy="1478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Tipada e documentada; quarentena com motivo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668000" y="4585891"/>
            <a:ext cx="266568" cy="19017"/>
          </a:xfrm>
          <a:prstGeom prst="rect">
            <a:avLst/>
          </a:prstGeom>
          <a:solidFill>
            <a:srgbClr val="84949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6869" y="3346318"/>
            <a:ext cx="2743564" cy="2498163"/>
          </a:xfrm>
          <a:prstGeom prst="roundRect">
            <a:avLst>
              <a:gd name="adj" fmla="val 76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64020" y="3661668"/>
            <a:ext cx="24081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364020" y="4089136"/>
            <a:ext cx="2265462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estrela e OBT; regra dos 15 min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982734" y="4585891"/>
            <a:ext cx="266568" cy="19017"/>
          </a:xfrm>
          <a:prstGeom prst="rect">
            <a:avLst/>
          </a:prstGeom>
          <a:solidFill>
            <a:srgbClr val="84949A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01602" y="3346318"/>
            <a:ext cx="2743399" cy="2498163"/>
          </a:xfrm>
          <a:prstGeom prst="roundRect">
            <a:avLst>
              <a:gd name="adj" fmla="val 7626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78753" y="3661668"/>
            <a:ext cx="24080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6D5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78753" y="4089136"/>
            <a:ext cx="2265296" cy="111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dashboards, Genie e agente público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43000" y="6682549"/>
            <a:ext cx="1760220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49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catálogo mizukiairflows · Unity Catalog · Serverless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43000" y="9592800"/>
            <a:ext cx="170314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DECOLAGEM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836761" y="9592800"/>
            <a:ext cx="38444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1820" y="419034"/>
            <a:ext cx="1019803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613853" y="467717"/>
            <a:ext cx="731937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527691" y="419034"/>
            <a:ext cx="1131590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709724" y="467717"/>
            <a:ext cx="843723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35349" y="419034"/>
            <a:ext cx="977635" cy="372401"/>
          </a:xfrm>
          <a:prstGeom prst="roundRect">
            <a:avLst>
              <a:gd name="adj" fmla="val 50000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17382" y="467717"/>
            <a:ext cx="689769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7E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789052" y="419034"/>
            <a:ext cx="871471" cy="372401"/>
          </a:xfrm>
          <a:prstGeom prst="roundRect">
            <a:avLst>
              <a:gd name="adj" fmla="val 50000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71085" y="467717"/>
            <a:ext cx="583605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7E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736591" y="419034"/>
            <a:ext cx="1408410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8624" y="467717"/>
            <a:ext cx="1120544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143000"/>
            <a:ext cx="15716251" cy="720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decisões tornaram o resultado auditável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1143000" y="2511392"/>
            <a:ext cx="5156234" cy="3767336"/>
          </a:xfrm>
          <a:prstGeom prst="roundRect">
            <a:avLst>
              <a:gd name="adj" fmla="val 5057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34583" y="2941009"/>
            <a:ext cx="4810373" cy="876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7"/>
              </a:lnSpc>
              <a:buNone/>
            </a:pPr>
            <a:r>
              <a:rPr lang="en-US" sz="6600" b="1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1534583" y="4007776"/>
            <a:ext cx="481037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espelha o Bronze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534583" y="4649060"/>
            <a:ext cx="4504258" cy="83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2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contagem de linhas. Nada some sem rastro.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6565801" y="2511392"/>
            <a:ext cx="5156234" cy="3767336"/>
          </a:xfrm>
          <a:prstGeom prst="roundRect">
            <a:avLst>
              <a:gd name="adj" fmla="val 5057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7385" y="2941009"/>
            <a:ext cx="4810373" cy="876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7"/>
              </a:lnSpc>
              <a:buNone/>
            </a:pPr>
            <a:r>
              <a:rPr lang="en-US" sz="6600" b="1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195K</a:t>
            </a:r>
            <a:endParaRPr lang="en-US" sz="6600" dirty="0"/>
          </a:p>
        </p:txBody>
      </p:sp>
      <p:sp>
        <p:nvSpPr>
          <p:cNvPr id="19" name="Text 17"/>
          <p:cNvSpPr/>
          <p:nvPr/>
        </p:nvSpPr>
        <p:spPr>
          <a:xfrm>
            <a:off x="6957385" y="4007776"/>
            <a:ext cx="481037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Quarentena com motivo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6957385" y="4649060"/>
            <a:ext cx="4504258" cy="1238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2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 separadas, não apagadas. 820K seguem auditadas.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1988602" y="2511392"/>
            <a:ext cx="5156399" cy="3767336"/>
          </a:xfrm>
          <a:prstGeom prst="roundRect">
            <a:avLst>
              <a:gd name="adj" fmla="val 5057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80185" y="2941009"/>
            <a:ext cx="4810555" cy="876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87"/>
              </a:lnSpc>
              <a:buNone/>
            </a:pPr>
            <a:r>
              <a:rPr lang="en-US" sz="6600" b="1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15′</a:t>
            </a:r>
            <a:endParaRPr lang="en-US" sz="6600" dirty="0"/>
          </a:p>
        </p:txBody>
      </p:sp>
      <p:sp>
        <p:nvSpPr>
          <p:cNvPr id="23" name="Text 21"/>
          <p:cNvSpPr/>
          <p:nvPr/>
        </p:nvSpPr>
        <p:spPr>
          <a:xfrm>
            <a:off x="12380185" y="4007776"/>
            <a:ext cx="481055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só na Gold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12380185" y="4649060"/>
            <a:ext cx="4504429" cy="83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2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Pontual = atraso até 15 min, sobre voos realizados.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143000" y="9592800"/>
            <a:ext cx="170314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DECOLAGEM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830642" y="9592800"/>
            <a:ext cx="39055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1820" y="419034"/>
            <a:ext cx="1019803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613853" y="467717"/>
            <a:ext cx="731937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527691" y="419034"/>
            <a:ext cx="1131590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709724" y="467717"/>
            <a:ext cx="843723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35349" y="419034"/>
            <a:ext cx="977635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17382" y="467717"/>
            <a:ext cx="689769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789052" y="419034"/>
            <a:ext cx="871471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71085" y="467717"/>
            <a:ext cx="583605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736591" y="419034"/>
            <a:ext cx="1408410" cy="372401"/>
          </a:xfrm>
          <a:prstGeom prst="roundRect">
            <a:avLst>
              <a:gd name="adj" fmla="val 50000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8624" y="467717"/>
            <a:ext cx="1120544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7E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143000"/>
            <a:ext cx="15716251" cy="720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Genie acelerou a análise; a validação ficou comigo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1143000" y="2358926"/>
            <a:ext cx="16002001" cy="3296212"/>
          </a:xfrm>
          <a:prstGeom prst="roundRect">
            <a:avLst>
              <a:gd name="adj" fmla="val 5779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3583" y="3454136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15" name="Text 13"/>
          <p:cNvSpPr/>
          <p:nvPr/>
        </p:nvSpPr>
        <p:spPr>
          <a:xfrm>
            <a:off x="1572617" y="2809710"/>
            <a:ext cx="3143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ACELEROU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887185" y="2693293"/>
            <a:ext cx="13011019" cy="475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29"/>
              </a:lnSpc>
              <a:buNone/>
            </a:pPr>
            <a:r>
              <a:rPr lang="en-US" sz="25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em português vira SQL sobre a obt_voos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153583" y="4549345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18" name="Text 16"/>
          <p:cNvSpPr/>
          <p:nvPr/>
        </p:nvSpPr>
        <p:spPr>
          <a:xfrm>
            <a:off x="1572617" y="3904919"/>
            <a:ext cx="3143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CORRIGIU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887185" y="3788503"/>
            <a:ext cx="13011019" cy="475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29"/>
              </a:lnSpc>
              <a:buNone/>
            </a:pPr>
            <a:r>
              <a:rPr lang="en-US" sz="25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estranho voltava ao Genie, com contexto, até a consulta fechar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153583" y="4559929"/>
            <a:ext cx="15980834" cy="1084626"/>
          </a:xfrm>
          <a:prstGeom prst="rect">
            <a:avLst/>
          </a:prstGeom>
          <a:solidFill>
            <a:srgbClr val="1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1572617" y="5000129"/>
            <a:ext cx="31432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VALIDEI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4887185" y="4883712"/>
            <a:ext cx="13011019" cy="475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29"/>
              </a:lnSpc>
              <a:buNone/>
            </a:pPr>
            <a:r>
              <a:rPr lang="en-US" sz="25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Contagens e totais conferidos direto nas tabelas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143000" y="6188439"/>
            <a:ext cx="1760220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agente público, o modelo só escreve SQL. Quem calcula é o banco.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9592800"/>
            <a:ext cx="170314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DECOLAGEM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848502" y="9592800"/>
            <a:ext cx="37269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1820" y="419034"/>
            <a:ext cx="1019803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613853" y="467717"/>
            <a:ext cx="731937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527691" y="419034"/>
            <a:ext cx="1131590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709724" y="467717"/>
            <a:ext cx="843723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35349" y="419034"/>
            <a:ext cx="977635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17382" y="467717"/>
            <a:ext cx="689769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789052" y="419034"/>
            <a:ext cx="871471" cy="372401"/>
          </a:xfrm>
          <a:prstGeom prst="roundRect">
            <a:avLst>
              <a:gd name="adj" fmla="val 50000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71085" y="467717"/>
            <a:ext cx="583605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7E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736591" y="419034"/>
            <a:ext cx="1408410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8624" y="467717"/>
            <a:ext cx="1120544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143000"/>
            <a:ext cx="14716126" cy="140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erro mais perigoso não aparece: ele devolve um número plausível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1143000" y="3117784"/>
            <a:ext cx="7867716" cy="3261651"/>
          </a:xfrm>
          <a:prstGeom prst="roundRect">
            <a:avLst>
              <a:gd name="adj" fmla="val 5841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2617" y="3547401"/>
            <a:ext cx="770933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ILIKE '%LATAM%'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72617" y="4076568"/>
            <a:ext cx="770933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10500" b="1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mil</a:t>
            </a:r>
            <a:endParaRPr lang="en-US" sz="10500" dirty="0"/>
          </a:p>
        </p:txBody>
      </p:sp>
      <p:sp>
        <p:nvSpPr>
          <p:cNvPr id="16" name="Text 14"/>
          <p:cNvSpPr/>
          <p:nvPr/>
        </p:nvSpPr>
        <p:spPr>
          <a:xfrm>
            <a:off x="1572617" y="5600568"/>
            <a:ext cx="770933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voos — a LATAM chilena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277284" y="3117784"/>
            <a:ext cx="7867716" cy="3261651"/>
          </a:xfrm>
          <a:prstGeom prst="roundRect">
            <a:avLst>
              <a:gd name="adj" fmla="val 5841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6902" y="3547401"/>
            <a:ext cx="770933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6D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"TAM LINHAS AÉREAS S.A."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706902" y="4076568"/>
            <a:ext cx="770933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97"/>
              </a:lnSpc>
              <a:buNone/>
            </a:pPr>
            <a:r>
              <a:rPr lang="en-US" sz="10500" b="1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302 mil</a:t>
            </a:r>
            <a:endParaRPr lang="en-US" sz="10500" dirty="0"/>
          </a:p>
        </p:txBody>
      </p:sp>
      <p:sp>
        <p:nvSpPr>
          <p:cNvPr id="20" name="Text 18"/>
          <p:cNvSpPr/>
          <p:nvPr/>
        </p:nvSpPr>
        <p:spPr>
          <a:xfrm>
            <a:off x="9706902" y="5600568"/>
            <a:ext cx="770933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voos — a LATAM Brasil no cadastro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43000" y="6988969"/>
            <a:ext cx="1760220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Solução:</a:t>
            </a:r>
            <a:pPr algn="l" indent="0" marL="0">
              <a:buNone/>
            </a:pPr>
            <a:r>
              <a:rPr lang="en-US" sz="24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 marca, mapeada pelo ICAO (TAM, LAN, LPE, LNE → LATAM).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9592800"/>
            <a:ext cx="170314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DECOLAGEM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830808" y="9592800"/>
            <a:ext cx="39039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428750"/>
          </a:xfrm>
          <a:prstGeom prst="rect">
            <a:avLst/>
          </a:prstGeom>
          <a:solidFill>
            <a:srgbClr val="1415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58251"/>
            <a:ext cx="18288001" cy="1428750"/>
          </a:xfrm>
          <a:prstGeom prst="rect">
            <a:avLst/>
          </a:prstGeom>
          <a:solidFill>
            <a:srgbClr val="141516"/>
          </a:solidFill>
          <a:ln/>
        </p:spPr>
      </p:sp>
      <p:sp>
        <p:nvSpPr>
          <p:cNvPr id="4" name="Text 2"/>
          <p:cNvSpPr/>
          <p:nvPr/>
        </p:nvSpPr>
        <p:spPr>
          <a:xfrm>
            <a:off x="8219447" y="3707474"/>
            <a:ext cx="203401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3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42935" y="4280958"/>
            <a:ext cx="5942344" cy="160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00" b="1" spc="216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Cruzeiro</a:t>
            </a:r>
            <a:endParaRPr lang="en-US" sz="10800" dirty="0"/>
          </a:p>
        </p:txBody>
      </p:sp>
      <p:sp>
        <p:nvSpPr>
          <p:cNvPr id="6" name="Text 4"/>
          <p:cNvSpPr/>
          <p:nvPr/>
        </p:nvSpPr>
        <p:spPr>
          <a:xfrm>
            <a:off x="5447109" y="6113860"/>
            <a:ext cx="8132978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dado limpo, as perguntas mudam.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4716126" cy="140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30.800 voos sem horário previsto puxam a pontualidade para baixo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143000" y="3194017"/>
            <a:ext cx="5228382" cy="1714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33"/>
              </a:lnSpc>
              <a:buNone/>
            </a:pPr>
            <a:r>
              <a:rPr lang="en-US" sz="13200" b="1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79,9%</a:t>
            </a:r>
            <a:endParaRPr lang="en-US" sz="13200" dirty="0"/>
          </a:p>
        </p:txBody>
      </p:sp>
      <p:sp>
        <p:nvSpPr>
          <p:cNvPr id="4" name="Text 2"/>
          <p:cNvSpPr/>
          <p:nvPr/>
        </p:nvSpPr>
        <p:spPr>
          <a:xfrm>
            <a:off x="1143000" y="5022784"/>
            <a:ext cx="52283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voos realizados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6810376" y="4305267"/>
            <a:ext cx="685767" cy="19017"/>
          </a:xfrm>
          <a:prstGeom prst="rect">
            <a:avLst/>
          </a:prstGeom>
          <a:solidFill>
            <a:srgbClr val="84949A"/>
          </a:solidFill>
          <a:ln/>
        </p:spPr>
      </p:sp>
      <p:sp>
        <p:nvSpPr>
          <p:cNvPr id="6" name="Text 4"/>
          <p:cNvSpPr/>
          <p:nvPr/>
        </p:nvSpPr>
        <p:spPr>
          <a:xfrm>
            <a:off x="8410443" y="3194017"/>
            <a:ext cx="5228382" cy="1714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33"/>
              </a:lnSpc>
              <a:buNone/>
            </a:pPr>
            <a:r>
              <a:rPr lang="en-US" sz="13200" b="1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82,5%</a:t>
            </a:r>
            <a:endParaRPr lang="en-US" sz="13200" dirty="0"/>
          </a:p>
        </p:txBody>
      </p:sp>
      <p:sp>
        <p:nvSpPr>
          <p:cNvPr id="7" name="Text 5"/>
          <p:cNvSpPr/>
          <p:nvPr/>
        </p:nvSpPr>
        <p:spPr>
          <a:xfrm>
            <a:off x="8410443" y="5022784"/>
            <a:ext cx="52283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voos com horário previsto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6057801"/>
            <a:ext cx="16002001" cy="266568"/>
          </a:xfrm>
          <a:prstGeom prst="roundRect">
            <a:avLst>
              <a:gd name="adj" fmla="val 50000"/>
            </a:avLst>
          </a:prstGeom>
          <a:solidFill>
            <a:srgbClr val="2F3537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6057801"/>
            <a:ext cx="15521948" cy="266568"/>
          </a:xfrm>
          <a:prstGeom prst="rect">
            <a:avLst/>
          </a:prstGeom>
          <a:solidFill>
            <a:srgbClr val="536065"/>
          </a:solidFill>
          <a:ln/>
        </p:spPr>
      </p:sp>
      <p:sp>
        <p:nvSpPr>
          <p:cNvPr id="10" name="Shape 8"/>
          <p:cNvSpPr/>
          <p:nvPr/>
        </p:nvSpPr>
        <p:spPr>
          <a:xfrm>
            <a:off x="16664948" y="6057801"/>
            <a:ext cx="480053" cy="266568"/>
          </a:xfrm>
          <a:prstGeom prst="rect">
            <a:avLst/>
          </a:prstGeom>
          <a:solidFill>
            <a:srgbClr val="54CAC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495687"/>
            <a:ext cx="20744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1.014.705 voos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053841" y="6495687"/>
            <a:ext cx="3400276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3,0% sem horário previsto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9592800"/>
            <a:ext cx="137044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CRUZEIRO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830642" y="9592800"/>
            <a:ext cx="39055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4716126" cy="140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atraso cresce ao longo do dia e dispara à meia-noite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2889250"/>
            <a:ext cx="16002001" cy="5905500"/>
          </a:xfrm>
          <a:prstGeom prst="roundRect">
            <a:avLst>
              <a:gd name="adj" fmla="val 32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3583" y="2899833"/>
            <a:ext cx="16002001" cy="5905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6083" y="3585600"/>
            <a:ext cx="2571899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4800" b="1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26,4 min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2106083" y="4252185"/>
            <a:ext cx="257189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meia-noite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392084" y="6900333"/>
            <a:ext cx="1887041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 min às 5h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4107584" y="5395350"/>
            <a:ext cx="2236655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 min às 22h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534583" y="8119401"/>
            <a:ext cx="35963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157391" y="8119401"/>
            <a:ext cx="35963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780033" y="8119401"/>
            <a:ext cx="50780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551007" y="8119401"/>
            <a:ext cx="50780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18h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321815" y="8119401"/>
            <a:ext cx="50780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23h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3000" y="9592800"/>
            <a:ext cx="835180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CRUZEIRO · ATRASO MÉDIO DE PARTIDA POR HORA, VIA GENIE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879756" y="9592800"/>
            <a:ext cx="34144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4716126" cy="140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Sair de São Paulo é menos pontual em 38 de 38 destinos</a:t>
            </a:r>
            <a:endParaRPr lang="en-US" sz="4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813017"/>
            <a:ext cx="16002001" cy="609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6527767"/>
            <a:ext cx="502920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Paulo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1" y="6527767"/>
            <a:ext cx="502920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Petrolina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847708" y="3251068"/>
            <a:ext cx="2851845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7200" b="1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73,3%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7862590" y="4222585"/>
            <a:ext cx="2819102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saindo de São Paulo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79640" y="7670767"/>
            <a:ext cx="1901412" cy="647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4800" b="1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91,0%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7610905" y="8337352"/>
            <a:ext cx="337280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voltando para São Paulo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43000" y="9592800"/>
            <a:ext cx="137044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CRUZEIRO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932342" y="9592800"/>
            <a:ext cx="28885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1820" y="419034"/>
            <a:ext cx="1019803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613853" y="467717"/>
            <a:ext cx="731937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527691" y="419034"/>
            <a:ext cx="1131590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709724" y="467717"/>
            <a:ext cx="843723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35349" y="419034"/>
            <a:ext cx="977635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17382" y="467717"/>
            <a:ext cx="689769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789052" y="419034"/>
            <a:ext cx="871471" cy="372401"/>
          </a:xfrm>
          <a:prstGeom prst="roundRect">
            <a:avLst>
              <a:gd name="adj" fmla="val 50000"/>
            </a:avLst>
          </a:prstGeom>
          <a:solidFill>
            <a:srgbClr val="2C3335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971085" y="467717"/>
            <a:ext cx="583605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736591" y="419034"/>
            <a:ext cx="1408410" cy="372401"/>
          </a:xfrm>
          <a:prstGeom prst="roundRect">
            <a:avLst>
              <a:gd name="adj" fmla="val 50000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8624" y="467717"/>
            <a:ext cx="1120544" cy="313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7E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143000"/>
            <a:ext cx="14716126" cy="140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em português, SQL à vista, resposta conferível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1143000" y="2965318"/>
            <a:ext cx="4381500" cy="1606682"/>
          </a:xfrm>
          <a:prstGeom prst="roundRect">
            <a:avLst>
              <a:gd name="adj" fmla="val 9485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9333" y="3223452"/>
            <a:ext cx="416771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PERGUNTA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9333" y="3593869"/>
            <a:ext cx="3902499" cy="758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"Como o atraso de partida evolui ao longo do dia?"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43000" y="4762500"/>
            <a:ext cx="4381500" cy="1246684"/>
          </a:xfrm>
          <a:prstGeom prst="roundRect">
            <a:avLst>
              <a:gd name="adj" fmla="val 12224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9333" y="5020634"/>
            <a:ext cx="416771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SQL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39333" y="5391051"/>
            <a:ext cx="4167717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 e exibido pelo Genie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43000" y="6199684"/>
            <a:ext cx="4381500" cy="1246684"/>
          </a:xfrm>
          <a:prstGeom prst="roundRect">
            <a:avLst>
              <a:gd name="adj" fmla="val 12224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39333" y="6457818"/>
            <a:ext cx="416771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RESULTADO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39333" y="6828235"/>
            <a:ext cx="4167717" cy="398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10"/>
              </a:lnSpc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e resumo com a fonte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057801" y="2965318"/>
            <a:ext cx="11087200" cy="4464844"/>
          </a:xfrm>
          <a:prstGeom prst="roundRect">
            <a:avLst>
              <a:gd name="adj" fmla="val 4267"/>
            </a:avLst>
          </a:prstGeom>
          <a:solidFill>
            <a:srgbClr val="141516"/>
          </a:solidFill>
          <a:ln w="10583">
            <a:solidFill>
              <a:srgbClr val="536065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8384" y="2975901"/>
            <a:ext cx="11066033" cy="444367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3000" y="9592800"/>
            <a:ext cx="137044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CRUZEIRO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886370" y="9592800"/>
            <a:ext cx="33483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428750"/>
          </a:xfrm>
          <a:prstGeom prst="rect">
            <a:avLst/>
          </a:prstGeom>
          <a:solidFill>
            <a:srgbClr val="1415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58251"/>
            <a:ext cx="18288001" cy="1428750"/>
          </a:xfrm>
          <a:prstGeom prst="rect">
            <a:avLst/>
          </a:prstGeom>
          <a:solidFill>
            <a:srgbClr val="141516"/>
          </a:solidFill>
          <a:ln/>
        </p:spPr>
      </p:sp>
      <p:sp>
        <p:nvSpPr>
          <p:cNvPr id="4" name="Text 2"/>
          <p:cNvSpPr/>
          <p:nvPr/>
        </p:nvSpPr>
        <p:spPr>
          <a:xfrm>
            <a:off x="8219447" y="3707474"/>
            <a:ext cx="203401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4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1017" y="4280958"/>
            <a:ext cx="4428563" cy="160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00" b="1" spc="216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Pouso</a:t>
            </a:r>
            <a:endParaRPr lang="en-US" sz="10800" dirty="0"/>
          </a:p>
        </p:txBody>
      </p:sp>
      <p:sp>
        <p:nvSpPr>
          <p:cNvPr id="6" name="Text 4"/>
          <p:cNvSpPr/>
          <p:nvPr/>
        </p:nvSpPr>
        <p:spPr>
          <a:xfrm>
            <a:off x="5080496" y="6113860"/>
            <a:ext cx="8939527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dado não conta também é resultado.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4716126" cy="140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limites vêm da fonte; dois vieram do meu pipeline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041551"/>
            <a:ext cx="7867716" cy="2290300"/>
          </a:xfrm>
          <a:prstGeom prst="roundRect">
            <a:avLst>
              <a:gd name="adj" fmla="val 8318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4583" y="3394935"/>
            <a:ext cx="779300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4583" y="3803386"/>
            <a:ext cx="7793004" cy="694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valor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534583" y="4592836"/>
            <a:ext cx="7793004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2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29.145 cancelamentos (N/A): a causa não existe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77284" y="3041551"/>
            <a:ext cx="7867716" cy="2290300"/>
          </a:xfrm>
          <a:prstGeom prst="roundRect">
            <a:avLst>
              <a:gd name="adj" fmla="val 8318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68867" y="3394935"/>
            <a:ext cx="779300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68867" y="3803386"/>
            <a:ext cx="7793004" cy="694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10,5%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9668867" y="4592836"/>
            <a:ext cx="7793004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2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partidas em aeródromos sem cadastro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43000" y="5598418"/>
            <a:ext cx="7867716" cy="2675930"/>
          </a:xfrm>
          <a:prstGeom prst="roundRect">
            <a:avLst>
              <a:gd name="adj" fmla="val 7119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4583" y="5951802"/>
            <a:ext cx="779300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B7E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MEU PIPELINE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34583" y="6360253"/>
            <a:ext cx="7793004" cy="694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77,6%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534583" y="7149704"/>
            <a:ext cx="7297086" cy="809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2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dashboard ANAC: divide por todos os voos. Correção pendente.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277284" y="5598418"/>
            <a:ext cx="7867716" cy="2675930"/>
          </a:xfrm>
          <a:prstGeom prst="roundRect">
            <a:avLst>
              <a:gd name="adj" fmla="val 7119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68867" y="5951802"/>
            <a:ext cx="779300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MEU PIPELINE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68867" y="6360253"/>
            <a:ext cx="7793004" cy="662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TRUNCATE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668867" y="7117953"/>
            <a:ext cx="7793004" cy="423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2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recarrega tudo; não é incremental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43000" y="9592800"/>
            <a:ext cx="94717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POUSO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883890" y="9592800"/>
            <a:ext cx="33731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5716251" cy="720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próximo voo corrige os limites na origem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2435159"/>
            <a:ext cx="16002001" cy="4057385"/>
          </a:xfrm>
          <a:prstGeom prst="roundRect">
            <a:avLst>
              <a:gd name="adj" fmla="val 4695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583" y="2445742"/>
            <a:ext cx="15980834" cy="1011701"/>
          </a:xfrm>
          <a:prstGeom prst="rect">
            <a:avLst/>
          </a:prstGeom>
          <a:solidFill>
            <a:srgbClr val="132F2F"/>
          </a:solidFill>
          <a:ln/>
        </p:spPr>
      </p:sp>
      <p:sp>
        <p:nvSpPr>
          <p:cNvPr id="5" name="Shape 3"/>
          <p:cNvSpPr/>
          <p:nvPr/>
        </p:nvSpPr>
        <p:spPr>
          <a:xfrm>
            <a:off x="1153583" y="3446860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6" name="Text 4"/>
          <p:cNvSpPr/>
          <p:nvPr/>
        </p:nvSpPr>
        <p:spPr>
          <a:xfrm>
            <a:off x="1572617" y="2771676"/>
            <a:ext cx="53326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372486" y="2750509"/>
            <a:ext cx="7417197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Denominador do dashboard ANAC corrigido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53583" y="4458560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9" name="Text 7"/>
          <p:cNvSpPr/>
          <p:nvPr/>
        </p:nvSpPr>
        <p:spPr>
          <a:xfrm>
            <a:off x="1572617" y="3783377"/>
            <a:ext cx="53326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72486" y="3762210"/>
            <a:ext cx="4885680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incremental no Bronze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53583" y="5470261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12" name="Text 10"/>
          <p:cNvSpPr/>
          <p:nvPr/>
        </p:nvSpPr>
        <p:spPr>
          <a:xfrm>
            <a:off x="1572617" y="4795077"/>
            <a:ext cx="53326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72486" y="4773910"/>
            <a:ext cx="8086775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de cada cadastro lido certo no Bronze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572617" y="5806778"/>
            <a:ext cx="53326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372486" y="5785611"/>
            <a:ext cx="7027565" cy="429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 marca levada para a dim_empresa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143000" y="9592800"/>
            <a:ext cx="94717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POUSO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877276" y="9592800"/>
            <a:ext cx="34392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760220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05" kern="0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VOLTA À PERGUNTA NORTEADORA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143000" y="1983218"/>
            <a:ext cx="7867716" cy="7256033"/>
          </a:xfrm>
          <a:prstGeom prst="roundRect">
            <a:avLst>
              <a:gd name="adj" fmla="val 3150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10651" y="2450869"/>
            <a:ext cx="7625656" cy="556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Quão pontual?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610651" y="3236020"/>
            <a:ext cx="2851845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7200" b="1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79,9%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393737" y="3754603"/>
            <a:ext cx="269868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realizados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610651" y="4417054"/>
            <a:ext cx="2851845" cy="95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7200" b="1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82,5%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393737" y="4935637"/>
            <a:ext cx="286075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horário previsto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77284" y="1983218"/>
            <a:ext cx="7867716" cy="7256033"/>
          </a:xfrm>
          <a:prstGeom prst="roundRect">
            <a:avLst>
              <a:gd name="adj" fmla="val 3150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44935" y="2450869"/>
            <a:ext cx="7625656" cy="556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para confiar?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744935" y="3236020"/>
            <a:ext cx="7140387" cy="147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95"/>
              </a:lnSpc>
              <a:buNone/>
            </a:pPr>
            <a:r>
              <a:rPr lang="en-US" sz="270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Sim: cada número tem origem, e o que ficou de fora está na quarentena, com motivo.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43000" y="9592800"/>
            <a:ext cx="94717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POUSO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889512" y="9592800"/>
            <a:ext cx="3316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4716126" cy="140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warehouse que mostra o que sabe e o que descarta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117784"/>
            <a:ext cx="5156234" cy="6121466"/>
          </a:xfrm>
          <a:prstGeom prst="roundRect">
            <a:avLst>
              <a:gd name="adj" fmla="val 4433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4583" y="3547401"/>
            <a:ext cx="481037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34583" y="4051102"/>
            <a:ext cx="4810373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54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camadas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534583" y="4965403"/>
            <a:ext cx="4504258" cy="83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2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1.014.705 voos, com quarentena em vez de descarte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65801" y="3117784"/>
            <a:ext cx="5156234" cy="6121466"/>
          </a:xfrm>
          <a:prstGeom prst="roundRect">
            <a:avLst>
              <a:gd name="adj" fmla="val 4433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57385" y="3547401"/>
            <a:ext cx="481037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39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DESCOBRI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57385" y="4051102"/>
            <a:ext cx="4810373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5400" b="1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de 38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957385" y="4965403"/>
            <a:ext cx="4504258" cy="1238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2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destinos em que sair de São Paulo é pior; e 82,5% depende da pergunta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988602" y="3117784"/>
            <a:ext cx="5156399" cy="6121466"/>
          </a:xfrm>
          <a:prstGeom prst="roundRect">
            <a:avLst>
              <a:gd name="adj" fmla="val 4433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0185" y="3547401"/>
            <a:ext cx="481055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80185" y="4051102"/>
            <a:ext cx="4810555" cy="723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5400" b="1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2380185" y="4965403"/>
            <a:ext cx="4504429" cy="1238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35"/>
              </a:lnSpc>
              <a:buNone/>
            </a:pPr>
            <a:r>
              <a:rPr lang="en-US" sz="22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erro mais caro é o número plausível. A IA acelera; a conferência é minha.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43000" y="9592800"/>
            <a:ext cx="94717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POUSO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883229" y="9592800"/>
            <a:ext cx="33797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3705" y="3995208"/>
            <a:ext cx="7414651" cy="160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800" b="1" spc="-216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10800" dirty="0"/>
          </a:p>
        </p:txBody>
      </p:sp>
      <p:sp>
        <p:nvSpPr>
          <p:cNvPr id="3" name="Text 1"/>
          <p:cNvSpPr/>
          <p:nvPr/>
        </p:nvSpPr>
        <p:spPr>
          <a:xfrm>
            <a:off x="6629466" y="5942542"/>
            <a:ext cx="553197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Leonardo Alvarenga · Mizuki Airflows</a:t>
            </a:r>
            <a:endParaRPr lang="en-US" sz="2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7602201" cy="720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Gold é uma estrela com seis dimensões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2358926"/>
            <a:ext cx="5181534" cy="854935"/>
          </a:xfrm>
          <a:prstGeom prst="roundRect">
            <a:avLst>
              <a:gd name="adj" fmla="val 178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39333" y="2617060"/>
            <a:ext cx="155543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dim_tempo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556746" y="2617060"/>
            <a:ext cx="547654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366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6553068" y="2358926"/>
            <a:ext cx="5181699" cy="854935"/>
          </a:xfrm>
          <a:prstGeom prst="roundRect">
            <a:avLst>
              <a:gd name="adj" fmla="val 178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49401" y="2617060"/>
            <a:ext cx="1901048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dim_empresa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966979" y="2617060"/>
            <a:ext cx="547654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169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963301" y="2358926"/>
            <a:ext cx="5181534" cy="854935"/>
          </a:xfrm>
          <a:prstGeom prst="roundRect">
            <a:avLst>
              <a:gd name="adj" fmla="val 178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9634" y="2617060"/>
            <a:ext cx="224666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dim_aerodromo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6377048" y="2617060"/>
            <a:ext cx="547654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496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43000" y="3442395"/>
            <a:ext cx="5181534" cy="1269669"/>
          </a:xfrm>
          <a:prstGeom prst="roundRect">
            <a:avLst>
              <a:gd name="adj" fmla="val 12003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9333" y="3700529"/>
            <a:ext cx="2275714" cy="791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dim_tipo_linha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870939" y="3700529"/>
            <a:ext cx="233462" cy="791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6553068" y="3442395"/>
            <a:ext cx="5181699" cy="1269669"/>
          </a:xfrm>
          <a:prstGeom prst="roundRect">
            <a:avLst>
              <a:gd name="adj" fmla="val 12003"/>
            </a:avLst>
          </a:prstGeom>
          <a:solidFill>
            <a:srgbClr val="132F2F"/>
          </a:solidFill>
          <a:ln w="10583">
            <a:solidFill>
              <a:srgbClr val="35B0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49401" y="3700529"/>
            <a:ext cx="504793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4CA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fato_voos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849401" y="4115263"/>
            <a:ext cx="5047936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1.014.705 · 1 voo/linha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963301" y="3442395"/>
            <a:ext cx="5181534" cy="1269669"/>
          </a:xfrm>
          <a:prstGeom prst="roundRect">
            <a:avLst>
              <a:gd name="adj" fmla="val 12003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9634" y="3700529"/>
            <a:ext cx="1333136" cy="791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dim_rota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6062854" y="3700529"/>
            <a:ext cx="861847" cy="791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3.104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143000" y="4940598"/>
            <a:ext cx="5181534" cy="854935"/>
          </a:xfrm>
          <a:prstGeom prst="roundRect">
            <a:avLst>
              <a:gd name="adj" fmla="val 17826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39333" y="5198732"/>
            <a:ext cx="2765078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dim_situacao_voo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5870939" y="5198732"/>
            <a:ext cx="233462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6553068" y="4940598"/>
            <a:ext cx="5181699" cy="854935"/>
          </a:xfrm>
          <a:prstGeom prst="roundRect">
            <a:avLst>
              <a:gd name="adj" fmla="val 17826"/>
            </a:avLst>
          </a:prstGeom>
          <a:ln w="10583">
            <a:solidFill>
              <a:srgbClr val="84949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849401" y="5198732"/>
            <a:ext cx="138263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C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obt_voos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0338595" y="5198732"/>
            <a:ext cx="117604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 col.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1963301" y="4940598"/>
            <a:ext cx="5181534" cy="854935"/>
          </a:xfrm>
          <a:prstGeom prst="roundRect">
            <a:avLst>
              <a:gd name="adj" fmla="val 17826"/>
            </a:avLst>
          </a:prstGeom>
          <a:ln w="10583">
            <a:solidFill>
              <a:srgbClr val="84949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2259634" y="5198732"/>
            <a:ext cx="3110872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C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vw_otp_por_empresa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6219952" y="5198732"/>
            <a:ext cx="704751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143000" y="6328833"/>
            <a:ext cx="176022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dim_aerodromo é usada duas vezes: origem e destino. SK = 0 para registros sem correspondência.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143000" y="9592800"/>
            <a:ext cx="136753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874134" y="9592800"/>
            <a:ext cx="34706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7602201" cy="720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por camada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2358926"/>
            <a:ext cx="16002001" cy="4789289"/>
          </a:xfrm>
          <a:prstGeom prst="roundRect">
            <a:avLst>
              <a:gd name="adj" fmla="val 3978"/>
            </a:avLst>
          </a:prstGeom>
          <a:solidFill>
            <a:srgbClr val="313A3C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583" y="2369509"/>
            <a:ext cx="15980834" cy="704784"/>
          </a:xfrm>
          <a:prstGeom prst="rect">
            <a:avLst/>
          </a:prstGeom>
          <a:solidFill>
            <a:srgbClr val="2C3335"/>
          </a:solidFill>
          <a:ln/>
        </p:spPr>
      </p:sp>
      <p:sp>
        <p:nvSpPr>
          <p:cNvPr id="5" name="Shape 3"/>
          <p:cNvSpPr/>
          <p:nvPr/>
        </p:nvSpPr>
        <p:spPr>
          <a:xfrm>
            <a:off x="1153583" y="3063710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6" name="Text 4"/>
          <p:cNvSpPr/>
          <p:nvPr/>
        </p:nvSpPr>
        <p:spPr>
          <a:xfrm>
            <a:off x="1534583" y="2579026"/>
            <a:ext cx="1213061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62417" y="2579026"/>
            <a:ext cx="46101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53583" y="3880611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9" name="Text 7"/>
          <p:cNvSpPr/>
          <p:nvPr/>
        </p:nvSpPr>
        <p:spPr>
          <a:xfrm>
            <a:off x="1534583" y="3302827"/>
            <a:ext cx="1213061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silver.airflow_auditado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562417" y="3302827"/>
            <a:ext cx="46101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820K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53583" y="4697512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12" name="Text 10"/>
          <p:cNvSpPr/>
          <p:nvPr/>
        </p:nvSpPr>
        <p:spPr>
          <a:xfrm>
            <a:off x="1534583" y="4119728"/>
            <a:ext cx="1213061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silver.airflow_quarentena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562417" y="4119728"/>
            <a:ext cx="46101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195K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153583" y="4708095"/>
            <a:ext cx="15980834" cy="806318"/>
          </a:xfrm>
          <a:prstGeom prst="rect">
            <a:avLst/>
          </a:prstGeom>
          <a:solidFill>
            <a:srgbClr val="132F2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3583" y="5503830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16" name="Text 14"/>
          <p:cNvSpPr/>
          <p:nvPr/>
        </p:nvSpPr>
        <p:spPr>
          <a:xfrm>
            <a:off x="1534583" y="4936629"/>
            <a:ext cx="12130617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6D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gold.fato_voos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562417" y="4936629"/>
            <a:ext cx="4610100" cy="37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4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1.014.705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53583" y="6320731"/>
            <a:ext cx="15980834" cy="10583"/>
          </a:xfrm>
          <a:prstGeom prst="rect">
            <a:avLst/>
          </a:prstGeom>
          <a:solidFill>
            <a:srgbClr val="414B4E"/>
          </a:solidFill>
          <a:ln/>
        </p:spPr>
      </p:sp>
      <p:sp>
        <p:nvSpPr>
          <p:cNvPr id="19" name="Text 17"/>
          <p:cNvSpPr/>
          <p:nvPr/>
        </p:nvSpPr>
        <p:spPr>
          <a:xfrm>
            <a:off x="1534583" y="5742947"/>
            <a:ext cx="1213061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gold.obt_voos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562417" y="5742947"/>
            <a:ext cx="46101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1.014.705 × 56 col.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534583" y="6559848"/>
            <a:ext cx="1213061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 · fato exportado (5 Parquet)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562417" y="6559848"/>
            <a:ext cx="461010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86.518 · 1,5 MB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43000" y="9592800"/>
            <a:ext cx="136753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819233" y="9592800"/>
            <a:ext cx="40196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7602201" cy="720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pipeline e o catálogo no Databricks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2282693"/>
            <a:ext cx="7848534" cy="3603460"/>
          </a:xfrm>
          <a:prstGeom prst="roundRect">
            <a:avLst>
              <a:gd name="adj" fmla="val 4229"/>
            </a:avLst>
          </a:prstGeom>
          <a:ln w="10583">
            <a:solidFill>
              <a:srgbClr val="53606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583" y="2293276"/>
            <a:ext cx="7827368" cy="3582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6038454"/>
            <a:ext cx="863338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Silver: auditado 820K, quarentena 195K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9296301" y="2282693"/>
            <a:ext cx="7848699" cy="3219318"/>
          </a:xfrm>
          <a:prstGeom prst="roundRect">
            <a:avLst>
              <a:gd name="adj" fmla="val 4734"/>
            </a:avLst>
          </a:prstGeom>
          <a:ln w="10583">
            <a:solidFill>
              <a:srgbClr val="53606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885" y="2293276"/>
            <a:ext cx="7827533" cy="31981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96301" y="5654311"/>
            <a:ext cx="863356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gold: 10 tabelas e views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143000" y="9592800"/>
            <a:ext cx="136753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816753" y="9592800"/>
            <a:ext cx="4044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52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7602201" cy="720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745"/>
              </a:lnSpc>
              <a:buNone/>
            </a:pPr>
            <a:r>
              <a:rPr lang="en-US" sz="4800" b="1" spc="-48" kern="0" dirty="0">
                <a:solidFill>
                  <a:srgbClr val="F4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em quarentena carrega o motivo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2282693"/>
            <a:ext cx="16002001" cy="4119893"/>
          </a:xfrm>
          <a:prstGeom prst="roundRect">
            <a:avLst>
              <a:gd name="adj" fmla="val 4624"/>
            </a:avLst>
          </a:prstGeom>
          <a:solidFill>
            <a:srgbClr val="1F2426"/>
          </a:solidFill>
          <a:ln w="10583">
            <a:solidFill>
              <a:srgbClr val="414B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2683" y="2636077"/>
            <a:ext cx="15622059" cy="464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9034"/>
              </a:lnSpc>
              <a:buNone/>
            </a:pPr>
            <a:r>
              <a:rPr lang="en-US" sz="2100" dirty="0">
                <a:solidFill>
                  <a:srgbClr val="C8C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572683" y="3062718"/>
            <a:ext cx="15622059" cy="464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9034"/>
              </a:lnSpc>
              <a:buNone/>
            </a:pPr>
            <a:r>
              <a:rPr lang="en-US" sz="210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e.icao  IS NULL THEN 'ICAO da empresa nao encontrado…'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72683" y="3489358"/>
            <a:ext cx="15622059" cy="464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9034"/>
              </a:lnSpc>
              <a:buNone/>
            </a:pPr>
            <a:r>
              <a:rPr lang="en-US" sz="210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ao.icao IS NULL THEN 'ICAO do aerodromo de origem…'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72683" y="3915999"/>
            <a:ext cx="15622059" cy="464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9034"/>
              </a:lnSpc>
              <a:buNone/>
            </a:pPr>
            <a:r>
              <a:rPr lang="en-US" sz="210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ad.icao IS NULL THEN 'ICAO do aerodromo de destino…'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72683" y="4342640"/>
            <a:ext cx="15622059" cy="464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9034"/>
              </a:lnSpc>
              <a:buNone/>
            </a:pPr>
            <a:r>
              <a:rPr lang="en-US" sz="210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Partida_Prevista IS NULL … THEN 'Horarios previstos ausentes'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72683" y="4769280"/>
            <a:ext cx="15622059" cy="464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9034"/>
              </a:lnSpc>
              <a:buNone/>
            </a:pPr>
            <a:r>
              <a:rPr lang="en-US" sz="2100" dirty="0">
                <a:solidFill>
                  <a:srgbClr val="839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Situação_Voo NOT IN ('REALIZADO','CANCELADO') THEN …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72683" y="5195921"/>
            <a:ext cx="15622059" cy="464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9034"/>
              </a:lnSpc>
              <a:buNone/>
            </a:pPr>
            <a:r>
              <a:rPr lang="en-US" sz="2100" dirty="0">
                <a:solidFill>
                  <a:srgbClr val="C8CE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AS motivo_exclusao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153583" y="5622561"/>
            <a:ext cx="15980834" cy="426641"/>
          </a:xfrm>
          <a:prstGeom prst="rect">
            <a:avLst/>
          </a:prstGeom>
          <a:solidFill>
            <a:srgbClr val="132F2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3583" y="5622561"/>
            <a:ext cx="31750" cy="426641"/>
          </a:xfrm>
          <a:prstGeom prst="rect">
            <a:avLst/>
          </a:prstGeom>
          <a:solidFill>
            <a:srgbClr val="35B0AE"/>
          </a:solidFill>
          <a:ln/>
        </p:spPr>
      </p:sp>
      <p:sp>
        <p:nvSpPr>
          <p:cNvPr id="13" name="Text 11"/>
          <p:cNvSpPr/>
          <p:nvPr/>
        </p:nvSpPr>
        <p:spPr>
          <a:xfrm>
            <a:off x="1566333" y="5622561"/>
            <a:ext cx="15666509" cy="4647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9034"/>
              </a:lnSpc>
              <a:buNone/>
            </a:pPr>
            <a:r>
              <a:rPr lang="en-US" sz="2100" dirty="0">
                <a:solidFill>
                  <a:srgbClr val="86D5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FROM airflow_marcado WHERE is_valid = false   -- quarentena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43000" y="6859654"/>
            <a:ext cx="1760220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CE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auditado + quarentena = 100% do Bronze · 01_airflow_marcado.sql, 03_airflow_quarentena.sql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43000" y="9592800"/>
            <a:ext cx="136753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810138" y="9592800"/>
            <a:ext cx="41106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49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2026-10-06T12:09:32Z</dcterms:created>
  <dcterms:modified xsi:type="dcterms:W3CDTF">2026-10-06T12:09:32Z</dcterms:modified>
</cp:coreProperties>
</file>